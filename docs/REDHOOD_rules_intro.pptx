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10058400" y="50292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72768"/>
            <a:ext cx="1218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spc="1000" kern="0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REDHOOD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빨간망토의 모험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주사위 족보로 늑대를 사냥하는 모바일 로그라이크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374136" y="406908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738982" y="4433926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8" name="Shape 5"/>
          <p:cNvSpPr/>
          <p:nvPr/>
        </p:nvSpPr>
        <p:spPr>
          <a:xfrm>
            <a:off x="4517136" y="406908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90872" y="4242816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0" name="Shape 7"/>
          <p:cNvSpPr/>
          <p:nvPr/>
        </p:nvSpPr>
        <p:spPr>
          <a:xfrm>
            <a:off x="5073091" y="4625035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1" name="Shape 8"/>
          <p:cNvSpPr/>
          <p:nvPr/>
        </p:nvSpPr>
        <p:spPr>
          <a:xfrm>
            <a:off x="5660136" y="406908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F0D586"/>
          </a:solidFill>
          <a:ln w="19050">
            <a:solidFill>
              <a:srgbClr val="B0894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6498" y="4225442"/>
            <a:ext cx="138989" cy="138989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13" name="Shape 10"/>
          <p:cNvSpPr/>
          <p:nvPr/>
        </p:nvSpPr>
        <p:spPr>
          <a:xfrm>
            <a:off x="6024982" y="4433926"/>
            <a:ext cx="138989" cy="138989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3465" y="4642409"/>
            <a:ext cx="138989" cy="138989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406908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94246" y="4260190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7" name="Shape 14"/>
          <p:cNvSpPr/>
          <p:nvPr/>
        </p:nvSpPr>
        <p:spPr>
          <a:xfrm>
            <a:off x="7341718" y="4260190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8" name="Shape 15"/>
          <p:cNvSpPr/>
          <p:nvPr/>
        </p:nvSpPr>
        <p:spPr>
          <a:xfrm>
            <a:off x="6994246" y="4607662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9" name="Shape 16"/>
          <p:cNvSpPr/>
          <p:nvPr/>
        </p:nvSpPr>
        <p:spPr>
          <a:xfrm>
            <a:off x="7341718" y="4607662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0" name="Shape 17"/>
          <p:cNvSpPr/>
          <p:nvPr/>
        </p:nvSpPr>
        <p:spPr>
          <a:xfrm>
            <a:off x="7946136" y="406908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119872" y="4242816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2" name="Shape 19"/>
          <p:cNvSpPr/>
          <p:nvPr/>
        </p:nvSpPr>
        <p:spPr>
          <a:xfrm>
            <a:off x="8502091" y="4242816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3" name="Shape 20"/>
          <p:cNvSpPr/>
          <p:nvPr/>
        </p:nvSpPr>
        <p:spPr>
          <a:xfrm>
            <a:off x="8310982" y="4433926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4" name="Shape 21"/>
          <p:cNvSpPr/>
          <p:nvPr/>
        </p:nvSpPr>
        <p:spPr>
          <a:xfrm>
            <a:off x="8119872" y="4625035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5" name="Shape 22"/>
          <p:cNvSpPr/>
          <p:nvPr/>
        </p:nvSpPr>
        <p:spPr>
          <a:xfrm>
            <a:off x="8502091" y="4625035"/>
            <a:ext cx="138989" cy="138989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6" name="Text 23"/>
          <p:cNvSpPr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소개  ·  프로토타입 v0.4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게임인가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27201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29384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로그라이크 야찌 배틀 — 굴린 주사위로 족보를 만들면, 그 점수가 곧 공격력이 된다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441448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27201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70632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세로 화면 웹게임 · 홈 화면에 설치되는 앱(PWA) · 오프라인 플레이 지원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282696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27201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55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레퍼런스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Yahtzee의 족보 × Balatro의 "점수 = 피해" × Slay the Spire의 런 구조와 적 의도 공개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123944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27201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감각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453128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모은 족보·주사위·유물로 나만의 확률 기계를 조립해, 원하는 족보를 크게 터트린다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18120" y="17373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F2620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88366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81812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족보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84080" y="17373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F2620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188366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78408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사기주사위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3337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F2620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348386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818120" y="4206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3337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F2620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348386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9784080" y="4206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 + 보스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빨간망토가 어두운 숲을 지나 할머니의 집으로 — 그 안의 늑대에게 향한다.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턴은 이렇게 흘러간다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214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7612" y="2788920"/>
            <a:ext cx="768096" cy="768096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21231" y="2942539"/>
            <a:ext cx="122895" cy="122895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8" name="Shape 6"/>
          <p:cNvSpPr/>
          <p:nvPr/>
        </p:nvSpPr>
        <p:spPr>
          <a:xfrm>
            <a:off x="1959193" y="2942539"/>
            <a:ext cx="122895" cy="122895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9" name="Shape 7"/>
          <p:cNvSpPr/>
          <p:nvPr/>
        </p:nvSpPr>
        <p:spPr>
          <a:xfrm>
            <a:off x="1790212" y="3111520"/>
            <a:ext cx="122895" cy="122895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0" name="Shape 8"/>
          <p:cNvSpPr/>
          <p:nvPr/>
        </p:nvSpPr>
        <p:spPr>
          <a:xfrm>
            <a:off x="1621231" y="3280501"/>
            <a:ext cx="122895" cy="122895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1" name="Shape 9"/>
          <p:cNvSpPr/>
          <p:nvPr/>
        </p:nvSpPr>
        <p:spPr>
          <a:xfrm>
            <a:off x="1959193" y="3280501"/>
            <a:ext cx="122895" cy="122895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굴린다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주사위 5개를 굴린다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5400000">
            <a:off x="3191256" y="3200400"/>
            <a:ext cx="256032" cy="292608"/>
          </a:xfrm>
          <a:prstGeom prst="triangle">
            <a:avLst/>
          </a:prstGeom>
          <a:solidFill>
            <a:srgbClr val="C9302F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8728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1214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411980" y="2788920"/>
            <a:ext cx="768096" cy="768096"/>
          </a:xfrm>
          <a:prstGeom prst="roundRect">
            <a:avLst>
              <a:gd name="adj" fmla="val 18000"/>
            </a:avLst>
          </a:prstGeom>
          <a:solidFill>
            <a:srgbClr val="F0D586"/>
          </a:solidFill>
          <a:ln w="19050">
            <a:solidFill>
              <a:srgbClr val="B0894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50237" y="2927177"/>
            <a:ext cx="122895" cy="122895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34580" y="3111520"/>
            <a:ext cx="122895" cy="122895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0" name="Shape 18"/>
          <p:cNvSpPr/>
          <p:nvPr/>
        </p:nvSpPr>
        <p:spPr>
          <a:xfrm>
            <a:off x="4918923" y="3295863"/>
            <a:ext cx="122895" cy="122895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1" name="Text 19"/>
          <p:cNvSpPr/>
          <p:nvPr/>
        </p:nvSpPr>
        <p:spPr>
          <a:xfrm>
            <a:off x="3538728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조립한다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75888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남길 주사위를 홀드하고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2회 리롤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rot="5400000">
            <a:off x="6135624" y="3200400"/>
            <a:ext cx="256032" cy="292608"/>
          </a:xfrm>
          <a:prstGeom prst="triangle">
            <a:avLst/>
          </a:prstGeom>
          <a:solidFill>
            <a:srgbClr val="C9302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83096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21214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6348" y="2788920"/>
            <a:ext cx="768096" cy="7680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83096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터트린다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620256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족보 확정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점수만큼 적에게 피해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 rot="5400000">
            <a:off x="9079992" y="3200400"/>
            <a:ext cx="256032" cy="292608"/>
          </a:xfrm>
          <a:prstGeom prst="triangle">
            <a:avLst/>
          </a:prstGeom>
          <a:solidFill>
            <a:srgbClr val="C9302F"/>
          </a:solidFill>
          <a:ln/>
        </p:spPr>
      </p:sp>
      <p:sp>
        <p:nvSpPr>
          <p:cNvPr id="30" name="Shape 27"/>
          <p:cNvSpPr/>
          <p:nvPr/>
        </p:nvSpPr>
        <p:spPr>
          <a:xfrm>
            <a:off x="9427464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56064" y="21214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716" y="2788920"/>
            <a:ext cx="768096" cy="76809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427464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버틴다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9564624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예고된 적의 행동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다음 턴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9436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적의 HP가 0이 되면 승리</a:t>
            </a:r>
            <a:pPr indent="0" marL="0">
              <a:buNone/>
            </a:pPr>
            <a:r>
              <a:rPr lang="en-US" sz="14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내 HP가 0이 되면 런 종료 — 처음부터 다시, 더 강하게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기억할 규칙은 넷뿐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842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리롤은 턴당 2회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048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홀드한 주사위는 그대로 남는다.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리롤을 어디에 쓰느냐가 실력이다.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유물로 +1 가능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842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0점도 선택이다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4048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성립하지 않은 족보도 확정할 수 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부가 능력은 발동하지 않는다.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108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버리는 턴도 전략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502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보너스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37083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전투에서 에이스~식스 점수 합이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63을 넘으면 즉시 추가 피해 35.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전투당 1회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9502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방어도는 한 박자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437083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족보로 얻은 방어도는 바로 다음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 행동에만 유효하다.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5074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타이밍이 생명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족보가 곧 스킬이다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족보는 피해와 부가 능력이 한 몸이다. 무엇을 굴렸느냐만큼, 지금 어떤 능력이 필요하냐가 선택을 만든다.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6596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200400"/>
                <a:gridCol w="914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족보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부가 능력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에이스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눈 [1]의 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 턴 리롤 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듀스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눈 [2]의 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방어도 +점수×2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트레이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눈 [3]의 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3 회복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눈 [4]의 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방어도 +점수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파이브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눈 [5]의 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 족보 피해 +5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눈 [6]의 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부가 없음 — 순수 화력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찬스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상위 눈 3개의 합 (항상 성립)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부가 없음 — 레벨업 불가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372600" y="2103120"/>
            <a:ext cx="2240280" cy="2926080"/>
          </a:xfrm>
          <a:prstGeom prst="roundRect">
            <a:avLst>
              <a:gd name="adj" fmla="val 4082"/>
            </a:avLst>
          </a:prstGeom>
          <a:solidFill>
            <a:srgbClr val="2F2620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12680" y="233172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195560" y="2514600"/>
            <a:ext cx="146304" cy="146304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9" name="Shape 6"/>
          <p:cNvSpPr/>
          <p:nvPr/>
        </p:nvSpPr>
        <p:spPr>
          <a:xfrm>
            <a:off x="10597896" y="2916936"/>
            <a:ext cx="146304" cy="146304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0" name="Text 7"/>
          <p:cNvSpPr/>
          <p:nvPr/>
        </p:nvSpPr>
        <p:spPr>
          <a:xfrm>
            <a:off x="9372600" y="3429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족보는 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72600" y="376732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찬스 · 듀스 · 트리플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나머지는 숲에서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구해야 한다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5532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상단(에이스~식스) 7종 — 숫자 눈의 합. 조합 족보는 다음 장.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조합 족보 — 크게 터트리는 쪽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1018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600200"/>
                <a:gridCol w="37490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족보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성립 조건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부가 능력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희귀도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트리플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눈 3개+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눈 합 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봉인 해제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시작 보유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포카드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눈 4개+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눈 합 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 다음 행동 취소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풀하우스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 + 2개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방어도 +15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스몰 스트레이트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연속 4개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이번 적 공격 회피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라지 스트레이트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연속 5개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회피 + 다음 턴 리롤 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야찌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C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5개 동일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B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9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 행동 취소 + 방어도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2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01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40480" y="54406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41064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7" name="Shape 4"/>
          <p:cNvSpPr/>
          <p:nvPr/>
        </p:nvSpPr>
        <p:spPr>
          <a:xfrm>
            <a:off x="4123944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8" name="Shape 5"/>
          <p:cNvSpPr/>
          <p:nvPr/>
        </p:nvSpPr>
        <p:spPr>
          <a:xfrm>
            <a:off x="3941064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9" name="Shape 6"/>
          <p:cNvSpPr/>
          <p:nvPr/>
        </p:nvSpPr>
        <p:spPr>
          <a:xfrm>
            <a:off x="4123944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0" name="Shape 7"/>
          <p:cNvSpPr/>
          <p:nvPr/>
        </p:nvSpPr>
        <p:spPr>
          <a:xfrm>
            <a:off x="3941064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1" name="Shape 8"/>
          <p:cNvSpPr/>
          <p:nvPr/>
        </p:nvSpPr>
        <p:spPr>
          <a:xfrm>
            <a:off x="4123944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2" name="Shape 9"/>
          <p:cNvSpPr/>
          <p:nvPr/>
        </p:nvSpPr>
        <p:spPr>
          <a:xfrm>
            <a:off x="4407408" y="54406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07992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4" name="Shape 11"/>
          <p:cNvSpPr/>
          <p:nvPr/>
        </p:nvSpPr>
        <p:spPr>
          <a:xfrm>
            <a:off x="4690872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5" name="Shape 12"/>
          <p:cNvSpPr/>
          <p:nvPr/>
        </p:nvSpPr>
        <p:spPr>
          <a:xfrm>
            <a:off x="4507992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90872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7" name="Shape 14"/>
          <p:cNvSpPr/>
          <p:nvPr/>
        </p:nvSpPr>
        <p:spPr>
          <a:xfrm>
            <a:off x="4507992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8" name="Shape 15"/>
          <p:cNvSpPr/>
          <p:nvPr/>
        </p:nvSpPr>
        <p:spPr>
          <a:xfrm>
            <a:off x="4690872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19" name="Shape 16"/>
          <p:cNvSpPr/>
          <p:nvPr/>
        </p:nvSpPr>
        <p:spPr>
          <a:xfrm>
            <a:off x="4974336" y="54406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0D586"/>
          </a:solidFill>
          <a:ln w="19050">
            <a:solidFill>
              <a:srgbClr val="B0894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74920" y="5518404"/>
            <a:ext cx="73152" cy="73152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1" name="Shape 18"/>
          <p:cNvSpPr/>
          <p:nvPr/>
        </p:nvSpPr>
        <p:spPr>
          <a:xfrm>
            <a:off x="5257800" y="5518404"/>
            <a:ext cx="73152" cy="73152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2" name="Shape 19"/>
          <p:cNvSpPr/>
          <p:nvPr/>
        </p:nvSpPr>
        <p:spPr>
          <a:xfrm>
            <a:off x="5074920" y="5632704"/>
            <a:ext cx="73152" cy="73152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3" name="Shape 20"/>
          <p:cNvSpPr/>
          <p:nvPr/>
        </p:nvSpPr>
        <p:spPr>
          <a:xfrm>
            <a:off x="5257800" y="5632704"/>
            <a:ext cx="73152" cy="73152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4" name="Shape 21"/>
          <p:cNvSpPr/>
          <p:nvPr/>
        </p:nvSpPr>
        <p:spPr>
          <a:xfrm>
            <a:off x="5074920" y="5747004"/>
            <a:ext cx="73152" cy="73152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5" name="Shape 22"/>
          <p:cNvSpPr/>
          <p:nvPr/>
        </p:nvSpPr>
        <p:spPr>
          <a:xfrm>
            <a:off x="5257800" y="5747004"/>
            <a:ext cx="73152" cy="73152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26" name="Shape 23"/>
          <p:cNvSpPr/>
          <p:nvPr/>
        </p:nvSpPr>
        <p:spPr>
          <a:xfrm>
            <a:off x="5541264" y="54406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41848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8" name="Shape 25"/>
          <p:cNvSpPr/>
          <p:nvPr/>
        </p:nvSpPr>
        <p:spPr>
          <a:xfrm>
            <a:off x="5824728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1848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0" name="Shape 27"/>
          <p:cNvSpPr/>
          <p:nvPr/>
        </p:nvSpPr>
        <p:spPr>
          <a:xfrm>
            <a:off x="5824728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1" name="Shape 28"/>
          <p:cNvSpPr/>
          <p:nvPr/>
        </p:nvSpPr>
        <p:spPr>
          <a:xfrm>
            <a:off x="5641848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2" name="Shape 29"/>
          <p:cNvSpPr/>
          <p:nvPr/>
        </p:nvSpPr>
        <p:spPr>
          <a:xfrm>
            <a:off x="5824728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3" name="Shape 30"/>
          <p:cNvSpPr/>
          <p:nvPr/>
        </p:nvSpPr>
        <p:spPr>
          <a:xfrm>
            <a:off x="6108192" y="54406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DCC8"/>
          </a:solidFill>
          <a:ln w="19050">
            <a:solidFill>
              <a:srgbClr val="4A3B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08776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5" name="Shape 32"/>
          <p:cNvSpPr/>
          <p:nvPr/>
        </p:nvSpPr>
        <p:spPr>
          <a:xfrm>
            <a:off x="6391656" y="55184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6" name="Shape 33"/>
          <p:cNvSpPr/>
          <p:nvPr/>
        </p:nvSpPr>
        <p:spPr>
          <a:xfrm>
            <a:off x="6208776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7" name="Shape 34"/>
          <p:cNvSpPr/>
          <p:nvPr/>
        </p:nvSpPr>
        <p:spPr>
          <a:xfrm>
            <a:off x="6391656" y="56327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8" name="Shape 35"/>
          <p:cNvSpPr/>
          <p:nvPr/>
        </p:nvSpPr>
        <p:spPr>
          <a:xfrm>
            <a:off x="6208776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39" name="Shape 36"/>
          <p:cNvSpPr/>
          <p:nvPr/>
        </p:nvSpPr>
        <p:spPr>
          <a:xfrm>
            <a:off x="6391656" y="5747004"/>
            <a:ext cx="73152" cy="73152"/>
          </a:xfrm>
          <a:prstGeom prst="ellipse">
            <a:avLst/>
          </a:prstGeom>
          <a:solidFill>
            <a:srgbClr val="221A15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중 잠금·쿨다운은 없다 — 소유한 족보는 매 턴 자유롭게 쓴다.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INTENT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적은 다음 수를 보여준다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적의 다음 행동은 항상 공개된다. 읽고, 맞는 족보로 응수하라.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1018520" cy="960120"/>
          </a:xfrm>
          <a:prstGeom prst="roundRect">
            <a:avLst>
              <a:gd name="adj" fmla="val 9524"/>
            </a:avLst>
          </a:prstGeom>
          <a:solidFill>
            <a:srgbClr val="27201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76272"/>
            <a:ext cx="640080" cy="640080"/>
          </a:xfrm>
          <a:prstGeom prst="ellipse">
            <a:avLst/>
          </a:prstGeom>
          <a:solidFill>
            <a:srgbClr val="14100F"/>
          </a:solidFill>
          <a:ln w="12700">
            <a:solidFill>
              <a:srgbClr val="3C2F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9514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39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예고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523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수치가 그대로 보인다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0" y="213969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듀스·포스로 막거나, 스트레이트로 회피하거나, 그 전에 잡아라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3154680"/>
            <a:ext cx="11018520" cy="960120"/>
          </a:xfrm>
          <a:prstGeom prst="roundRect">
            <a:avLst>
              <a:gd name="adj" fmla="val 9524"/>
            </a:avLst>
          </a:prstGeom>
          <a:solidFill>
            <a:srgbClr val="272019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319272"/>
            <a:ext cx="640080" cy="640080"/>
          </a:xfrm>
          <a:prstGeom prst="ellipse">
            <a:avLst/>
          </a:prstGeom>
          <a:solidFill>
            <a:srgbClr val="14100F"/>
          </a:solidFill>
          <a:ln w="12700">
            <a:solidFill>
              <a:srgbClr val="3C2F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43814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봉인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783080" y="3666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마지막에 쓴 족보를 2턴 잠근다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03520" y="328269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주력기만 파면 당한다 — 트리플이 봉인을 푸는 열쇠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94360" y="4297680"/>
            <a:ext cx="11018520" cy="960120"/>
          </a:xfrm>
          <a:prstGeom prst="roundRect">
            <a:avLst>
              <a:gd name="adj" fmla="val 9524"/>
            </a:avLst>
          </a:prstGeom>
          <a:solidFill>
            <a:srgbClr val="272019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4462272"/>
            <a:ext cx="640080" cy="640080"/>
          </a:xfrm>
          <a:prstGeom prst="ellipse">
            <a:avLst/>
          </a:prstGeom>
          <a:solidFill>
            <a:srgbClr val="14100F"/>
          </a:solidFill>
          <a:ln w="12700">
            <a:solidFill>
              <a:srgbClr val="3C2F2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58114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425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83080" y="4809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턴은 쉬고, 다음 턴 강타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303520" y="442569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화력을 밀어넣을 기회. 또는 포카드·야찌로 강타 자체를 취소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9436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적은 층이 오를수록 강해진다 (HP +10%/층). 성장하지 않으면 숲은 뚫리지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족보를 줍고, 겹치면 키운다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시작은 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찬스 · 듀스 · 트리플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최소한의 공·방·해제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5400000">
            <a:off x="4187952" y="2606040"/>
            <a:ext cx="256032" cy="292608"/>
          </a:xfrm>
          <a:prstGeom prst="triangle">
            <a:avLst/>
          </a:prstGeom>
          <a:solidFill>
            <a:srgbClr val="C9302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28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보상 3택1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450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족보 / 사기주사위 / 유물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스킵도 가능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8165592" y="2606040"/>
            <a:ext cx="256032" cy="292608"/>
          </a:xfrm>
          <a:prstGeom prst="triangle">
            <a:avLst/>
          </a:prstGeom>
          <a:solidFill>
            <a:srgbClr val="C9302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1828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족보를 또 얻으면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23960" y="2450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레벨업 (최대 Lv3)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239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×2, ×3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11018520" cy="1554480"/>
          </a:xfrm>
          <a:prstGeom prst="roundRect">
            <a:avLst>
              <a:gd name="adj" fmla="val 7059"/>
            </a:avLst>
          </a:prstGeom>
          <a:solidFill>
            <a:srgbClr val="2F2620"/>
          </a:solidFill>
          <a:ln w="12700">
            <a:solidFill>
              <a:srgbClr val="B08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— 야찌 빌드의 완성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야찌 Lv3</a:t>
            </a:r>
            <a:pPr indent="0" marL="0">
              <a:buNone/>
            </a:pPr>
            <a:r>
              <a:rPr lang="en-US" sz="14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를 만들면  50 × 3 = </a:t>
            </a:r>
            <a:pPr indent="0" marL="0">
              <a:buNone/>
            </a:pPr>
            <a:r>
              <a:rPr lang="en-US" sz="2000" b="1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150</a:t>
            </a:r>
            <a:pPr indent="0" marL="0">
              <a:buNone/>
            </a:pPr>
            <a:r>
              <a:rPr lang="en-US" sz="14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적 행동 취소 + 방어도 20은 그대로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 능력은 레벨과 무관하게 고정 — 커지는 것은 한 방의 크기다.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사기주사위와 유물 — 확률을 조작하라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F0D586"/>
          </a:solidFill>
          <a:ln w="19050">
            <a:solidFill>
              <a:srgbClr val="B0894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9124" y="2016618"/>
            <a:ext cx="90708" cy="90708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7" name="Shape 5"/>
          <p:cNvSpPr/>
          <p:nvPr/>
        </p:nvSpPr>
        <p:spPr>
          <a:xfrm>
            <a:off x="1265895" y="2016618"/>
            <a:ext cx="90708" cy="90708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8" name="Shape 6"/>
          <p:cNvSpPr/>
          <p:nvPr/>
        </p:nvSpPr>
        <p:spPr>
          <a:xfrm>
            <a:off x="1039124" y="2158350"/>
            <a:ext cx="90708" cy="90708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9" name="Shape 7"/>
          <p:cNvSpPr/>
          <p:nvPr/>
        </p:nvSpPr>
        <p:spPr>
          <a:xfrm>
            <a:off x="1265895" y="2158350"/>
            <a:ext cx="90708" cy="90708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10" name="Shape 8"/>
          <p:cNvSpPr/>
          <p:nvPr/>
        </p:nvSpPr>
        <p:spPr>
          <a:xfrm>
            <a:off x="1039124" y="2300082"/>
            <a:ext cx="90708" cy="90708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11" name="Shape 9"/>
          <p:cNvSpPr/>
          <p:nvPr/>
        </p:nvSpPr>
        <p:spPr>
          <a:xfrm>
            <a:off x="1265895" y="2300082"/>
            <a:ext cx="90708" cy="90708"/>
          </a:xfrm>
          <a:prstGeom prst="ellipse">
            <a:avLst/>
          </a:prstGeom>
          <a:solidFill>
            <a:srgbClr val="6B4E12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사기주사위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주사위 5개 중 하나와 교체한다 — 주사위가 곧 덱이다.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금박 주사위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족보에 기여하면 눈만큼 추가 피해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외눈 주사위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여섯 면 중 다섯이 [1] — 에이스 빌드의 심장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 주사위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[6]이 두 면 — 높은 눈이 잘 나온다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짝눈 · 홀눈 · 높은 주사위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면 구성 자체가 다르다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272019"/>
          </a:solidFill>
          <a:ln w="12700">
            <a:solidFill>
              <a:srgbClr val="3C2F26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938528"/>
            <a:ext cx="530352" cy="53035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6948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3796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자체를 비트는 영구 효과. 중복 획득은 없다.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37960" y="30175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은탄환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에이스 점수 5배 — 쓰레기 칸을 주력기로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붉은 망토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매 턴 리롤 +1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늑대 이빨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족보 확정마다 추가 피해 +3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빵부스러기 · 사냥꾼의 부적 · 가계부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등 6종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5257800"/>
            <a:ext cx="11018520" cy="868680"/>
          </a:xfrm>
          <a:prstGeom prst="roundRect">
            <a:avLst>
              <a:gd name="adj" fmla="val 10526"/>
            </a:avLst>
          </a:prstGeom>
          <a:solidFill>
            <a:srgbClr val="14100F"/>
          </a:solidFill>
          <a:ln w="12700">
            <a:solidFill>
              <a:srgbClr val="B089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5257800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피해  =  </a:t>
            </a:r>
            <a:pPr algn="ctr" indent="0" marL="0">
              <a:buNone/>
            </a:pPr>
            <a:r>
              <a:rPr lang="en-US" sz="16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기본 점수 + 금박 기여 )</a:t>
            </a:r>
            <a:pPr algn="ctr" indent="0" marL="0">
              <a:buNone/>
            </a:pPr>
            <a:r>
              <a:rPr lang="en-US" sz="16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16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족보 레벨</a:t>
            </a:r>
            <a:pPr algn="ctr" indent="0" marL="0">
              <a:buNone/>
            </a:pPr>
            <a:r>
              <a:rPr lang="en-US" sz="16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1600" b="1" dirty="0">
                <a:solidFill>
                  <a:srgbClr val="E8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유물 배수</a:t>
            </a:r>
            <a:pPr algn="ctr" indent="0" marL="0">
              <a:buNone/>
            </a:pPr>
            <a:r>
              <a:rPr lang="en-US" sz="16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6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가산 피해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숲을 지나는 11층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170432" y="1965960"/>
            <a:ext cx="0" cy="3291840"/>
          </a:xfrm>
          <a:prstGeom prst="line">
            <a:avLst/>
          </a:prstGeom>
          <a:noFill/>
          <a:ln w="25400">
            <a:solidFill>
              <a:srgbClr val="3C2F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883664"/>
            <a:ext cx="365760" cy="365760"/>
          </a:xfrm>
          <a:prstGeom prst="ellipse">
            <a:avLst/>
          </a:prstGeom>
          <a:solidFill>
            <a:srgbClr val="C9302F"/>
          </a:solidFill>
          <a:ln w="19050">
            <a:solidFill>
              <a:srgbClr val="C930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11층 — 늑대 (보스, 2페이즈)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87552" y="2798064"/>
            <a:ext cx="365760" cy="365760"/>
          </a:xfrm>
          <a:prstGeom prst="ellipse">
            <a:avLst/>
          </a:prstGeom>
          <a:solidFill>
            <a:srgbClr val="2F2620"/>
          </a:solidFill>
          <a:ln w="19050">
            <a:solidFill>
              <a:srgbClr val="E8B6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10층 — 모닥불 (고정 휴식)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87552" y="3712464"/>
            <a:ext cx="365760" cy="365760"/>
          </a:xfrm>
          <a:prstGeom prst="ellipse">
            <a:avLst/>
          </a:prstGeom>
          <a:solidFill>
            <a:srgbClr val="2F2620"/>
          </a:solidFill>
          <a:ln w="19050">
            <a:solidFill>
              <a:srgbClr val="3C2F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5~9층 — 갈림길 · 엘리트 출몰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87552" y="4626864"/>
            <a:ext cx="365760" cy="365760"/>
          </a:xfrm>
          <a:prstGeom prst="ellipse">
            <a:avLst/>
          </a:prstGeom>
          <a:solidFill>
            <a:srgbClr val="2F2620"/>
          </a:solidFill>
          <a:ln w="19050">
            <a:solidFill>
              <a:srgbClr val="3C2F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1~3층 — 쉬운 조우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5532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층마다 2~3개의 갈림길 — 전투 · 엘리트 · 휴식(HP 30% 회복) 중 길을 고른다.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182880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272019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2048256"/>
            <a:ext cx="603504" cy="603504"/>
          </a:xfrm>
          <a:prstGeom prst="ellipse">
            <a:avLst/>
          </a:prstGeom>
          <a:solidFill>
            <a:srgbClr val="14100F"/>
          </a:solidFill>
          <a:ln w="12700">
            <a:solidFill>
              <a:srgbClr val="3C2F26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2167128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26680" y="1975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이어하기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26680" y="2359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노드마다 자동 저장 — 앱을 꺼도 런은 남는다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75120" y="306324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272019"/>
          </a:solidFill>
          <a:ln/>
        </p:spPr>
      </p:sp>
      <p:sp>
        <p:nvSpPr>
          <p:cNvPr id="20" name="Shape 17"/>
          <p:cNvSpPr/>
          <p:nvPr/>
        </p:nvSpPr>
        <p:spPr>
          <a:xfrm>
            <a:off x="6903720" y="3282696"/>
            <a:ext cx="603504" cy="603504"/>
          </a:xfrm>
          <a:prstGeom prst="ellipse">
            <a:avLst/>
          </a:prstGeom>
          <a:solidFill>
            <a:srgbClr val="14100F"/>
          </a:solidFill>
          <a:ln w="12700">
            <a:solidFill>
              <a:srgbClr val="3C2F2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3401568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726680" y="32095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화면 설치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726680" y="3593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주소창 없는 전체화면, 오프라인 플레이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675120" y="429768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272019"/>
          </a:solidFill>
          <a:ln/>
        </p:spPr>
      </p:sp>
      <p:sp>
        <p:nvSpPr>
          <p:cNvPr id="25" name="Shape 21"/>
          <p:cNvSpPr/>
          <p:nvPr/>
        </p:nvSpPr>
        <p:spPr>
          <a:xfrm>
            <a:off x="6903720" y="4517136"/>
            <a:ext cx="603504" cy="603504"/>
          </a:xfrm>
          <a:prstGeom prst="ellipse">
            <a:avLst/>
          </a:prstGeom>
          <a:solidFill>
            <a:srgbClr val="14100F"/>
          </a:solidFill>
          <a:ln w="12700">
            <a:solidFill>
              <a:srgbClr val="3C2F2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4636008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726680" y="44439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길게 눌러 설명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7726680" y="4828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족보를 길게 누르면 판정 조건과 능력이 열린다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0515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숲이 기다린다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474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주사위는 이미 손 안에 있다. 어떤 족보로 늑대를 잡을 것인가.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127248" y="4206240"/>
            <a:ext cx="5943600" cy="1234440"/>
          </a:xfrm>
          <a:prstGeom prst="roundRect">
            <a:avLst>
              <a:gd name="adj" fmla="val 8889"/>
            </a:avLst>
          </a:prstGeom>
          <a:solidFill>
            <a:srgbClr val="2F2620"/>
          </a:solidFill>
          <a:ln w="19050">
            <a:solidFill>
              <a:srgbClr val="C930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27248" y="43708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127248" y="4681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sepi-toolbox.github.io/Redhood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REDHOOD 프로토타입 v0.4  ·  설계 문서: github.com/sepi-toolbox/Redhood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2026-08-05T06:00:55Z</dcterms:created>
  <dcterms:modified xsi:type="dcterms:W3CDTF">2026-08-05T06:00:55Z</dcterms:modified>
</cp:coreProperties>
</file>